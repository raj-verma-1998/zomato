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A01818"/>
          </a:solidFill>
          <a:ln w="12700">
            <a:solidFill>
              <a:srgbClr val="A018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Restaurant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Sentiment 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77724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10-step end-to-end data science project: Data Loading → EDA → Cleaning → Sentiment Analysis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Aggregation → Feature Engineering → Scaling &amp; PCA → KMeans → Hierarchical → Cluster Profiling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1828800" cy="1005840"/>
          </a:xfrm>
          <a:prstGeom prst="rect">
            <a:avLst/>
          </a:prstGeom>
          <a:solidFill>
            <a:srgbClr val="A01818"/>
          </a:solidFill>
          <a:ln w="12700">
            <a:solidFill>
              <a:srgbClr val="A018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3657600"/>
            <a:ext cx="1828800" cy="1005840"/>
          </a:xfrm>
          <a:prstGeom prst="rect">
            <a:avLst/>
          </a:prstGeom>
          <a:solidFill>
            <a:srgbClr val="A01818"/>
          </a:solidFill>
          <a:ln w="12700">
            <a:solidFill>
              <a:srgbClr val="A018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3464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9,955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83464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3657600"/>
            <a:ext cx="1828800" cy="1005840"/>
          </a:xfrm>
          <a:prstGeom prst="rect">
            <a:avLst/>
          </a:prstGeom>
          <a:solidFill>
            <a:srgbClr val="A01818"/>
          </a:solidFill>
          <a:ln w="12700">
            <a:solidFill>
              <a:srgbClr val="A018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3776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3657600"/>
            <a:ext cx="1828800" cy="1005840"/>
          </a:xfrm>
          <a:prstGeom prst="rect">
            <a:avLst/>
          </a:prstGeom>
          <a:solidFill>
            <a:srgbClr val="A01818"/>
          </a:solidFill>
          <a:ln w="12700">
            <a:solidFill>
              <a:srgbClr val="A018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Experiments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1600200" cy="384048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95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" y="119786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for restaurants &amp; reviews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47672" y="77724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47672" y="777240"/>
            <a:ext cx="1600200" cy="38404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795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84248" y="119786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93392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 bar charts, log scale plots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2464" y="77724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12464" y="777240"/>
            <a:ext cx="160020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795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119786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58184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nulls, IQR outlier detection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7256" y="77724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7256" y="777240"/>
            <a:ext cx="1600200" cy="384048"/>
          </a:xfrm>
          <a:prstGeom prst="rect">
            <a:avLst/>
          </a:prstGeom>
          <a:solidFill>
            <a:srgbClr val="6A3B8A"/>
          </a:solidFill>
          <a:ln w="12700">
            <a:solidFill>
              <a:srgbClr val="6A3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7256" y="795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13832" y="119786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22976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NLP + WordCloud visualization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42048" y="77724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42048" y="777240"/>
            <a:ext cx="16002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795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78624" y="119786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Aggregation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87768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to merge reviews → restaurants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288036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2880360"/>
            <a:ext cx="1600200" cy="38404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2898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9456" y="33009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28600" y="3840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popularity_score, value_score, 10+ features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47672" y="288036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947672" y="2880360"/>
            <a:ext cx="1600200" cy="384048"/>
          </a:xfrm>
          <a:prstGeom prst="rect">
            <a:avLst/>
          </a:prstGeom>
          <a:solidFill>
            <a:srgbClr val="D4860F"/>
          </a:solidFill>
          <a:ln w="12700">
            <a:solidFill>
              <a:srgbClr val="D4860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47672" y="2898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984248" y="33009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PCA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93392" y="3840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PCA(n_components=0.95)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12464" y="288036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12464" y="2880360"/>
            <a:ext cx="1600200" cy="38404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12464" y="2898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749040" y="33009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758184" y="3840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KMeans(k=5) + Silhouette Score evaluation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77256" y="288036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77256" y="2880360"/>
            <a:ext cx="160020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77256" y="2898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13832" y="33009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522976" y="3840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AgglomerativeClustering(linkage="ward")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42048" y="288036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42048" y="2880360"/>
            <a:ext cx="1600200" cy="384048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42048" y="2898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278624" y="33009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Profiling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287768" y="3840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groupby().agg() + PCA scatter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— Data Loading  [1/10]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Load two CSV files — restaurant metadata and customer reviews — into pandas DataFrames for analysis.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64008" cy="1188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loaded?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61848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CSV files: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Zomato Restaurant names and Metadata.csv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Zomato Restaurant reviews.csv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200 restaurants + 9,955 reviews loaded successfully.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542032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542032"/>
            <a:ext cx="64008" cy="1188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pd.read_csv()?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9260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read_csv() is the standard for tabular data. It auto-detects column types, handles encoding (utf-8), and loads data into a DataFrame — the core data structure for all subsequent steps.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840480"/>
            <a:ext cx="64008" cy="10515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913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encoding="utf-8"?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422452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names and reviews contain Indian characters (₹, special names). UTF-8 encoding ensures these are read correctly without corruption.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234440"/>
            <a:ext cx="4389120" cy="1005840"/>
          </a:xfrm>
          <a:prstGeom prst="rect">
            <a:avLst/>
          </a:prstGeom>
          <a:solidFill>
            <a:srgbClr val="F5EFEA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28016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df_meta = pd.read_csv(RESTAURANT_CSV,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encoding="utf-8", low_memory=False)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df_reviews = pd.read_csv(REVIEWS_CSV,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encoding="utf-8", low_memory=False)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2359152"/>
            <a:ext cx="4389120" cy="1280160"/>
          </a:xfrm>
          <a:prstGeom prst="rect">
            <a:avLst/>
          </a:prstGeom>
          <a:solidFill>
            <a:srgbClr val="F0F8F0"/>
          </a:solidFill>
          <a:ln w="6350">
            <a:solidFill>
              <a:srgbClr val="C8E0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404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Verification: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267919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Metadata: shape → (rows, cols) printed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Reviews: shape → (rows, cols) printed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Column names listed for both datasets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Sample rows previewed with .head(3)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File existence checked with os.path.exists()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749040"/>
            <a:ext cx="4389120" cy="640080"/>
          </a:xfrm>
          <a:prstGeom prst="rect">
            <a:avLst/>
          </a:prstGeom>
          <a:solidFill>
            <a:srgbClr val="F5EFEA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7947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Function: load_and_inspect_data()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os.path.exists() → FileNotFoundError guard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80560"/>
            <a:ext cx="4389120" cy="411480"/>
          </a:xfrm>
          <a:prstGeom prst="rect">
            <a:avLst/>
          </a:prstGeom>
          <a:solidFill>
            <a:srgbClr val="FAE5E0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507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low_memory=False? → Avoids mixed-type column warnings on large files — ensures consistent dtype inference.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 — Exploratory Data Analysis (EDA)  [2/10]</a:t>
            </a:r>
            <a:endParaRPr lang="en-US" sz="2200" dirty="0"/>
          </a:p>
        </p:txBody>
      </p:sp>
      <p:pic>
        <p:nvPicPr>
          <p:cNvPr id="4" name="Image 0" descr="/home/claude/01_eda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31520"/>
            <a:ext cx="502920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40680" y="749808"/>
            <a:ext cx="3474720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40680" y="749808"/>
            <a:ext cx="64008" cy="969264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822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Histogram + Median Line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577840" y="113385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plt.hist() shows distribution shape. axvline() at median ₹700 gives instant context — most restaurants cluster below ₹1,000 (right-skewed).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40680" y="1828800"/>
            <a:ext cx="3474720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40680" y="1828800"/>
            <a:ext cx="64008" cy="969264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Cuisines — Horizontal Bar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77840" y="221284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barh() chosen over vertical bars because cuisine names are long text. Reversed order puts most popular at top — easier to read rankings.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40680" y="2907792"/>
            <a:ext cx="3474720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40680" y="2907792"/>
            <a:ext cx="64008" cy="969264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2980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577840" y="329184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pattern (peaks at 1★ &amp; 5★) suggests extreme opinions. hist() with 20 bins reveals this clearly — couldn't be seen in a simple mean.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40680" y="3986784"/>
            <a:ext cx="3474720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40680" y="3986784"/>
            <a:ext cx="64008" cy="969264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Reviews/Restaurant — Log Scale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577840" y="437083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yscale("log") used because all restaurants have exactly 100 reviews each — a flat line in linear scale. Log scale confirms the uniformity.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40680" y="5102352"/>
            <a:ext cx="3474720" cy="384048"/>
          </a:xfrm>
          <a:prstGeom prst="rect">
            <a:avLst/>
          </a:prstGeom>
          <a:solidFill>
            <a:srgbClr val="F5EFEA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5148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Function: comprehensive_eda()  →  plt.subplots(2,2)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 — Data Cleaning &amp; Preprocessing  [3/10]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clean data before analysis? Garbage in = garbage out. Clustering algorithms are extremely sensitive to dirty data — missing values become 0s, outliers distort cluster centers.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416052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4416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— Column Name Cleaning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60934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meta.columns = [c.strip() for c in meta.columns]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 often have trailing spaces in column names, causing KeyError when accessing them. strip() prevents silent bugs.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25880"/>
            <a:ext cx="416052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34416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 — Remove Duplicates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82312" y="160934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 = meta.drop_duplicates().reset_index(drop=True)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82312" y="192024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would inflate counts and bias cluster assignments — a restaurant appearing twice gets double weight.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87752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87752"/>
            <a:ext cx="416052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60604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str.replace() + pd.to_numeric() — Clean Cost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" y="28712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meta["Cost"] = meta["Cost"].str.replace(r"[^\d.]","",regex=True)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meta["Cost"] = pd.to_numeric(meta["Cost"], errors="coerce")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3182112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column had currency symbols (₹, commas). regex strips non-numeric chars; errors="coerce" converts bad values to NaN safely.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587752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587752"/>
            <a:ext cx="416052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60604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groupby().median() — Impute Missing Cost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82312" y="28712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cost_by_cuisine = meta.groupby("cuisine_primary")["Cost"].median()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meta["Cost"] = meta.apply(fill_cost, axis=1)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82312" y="3182112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global mean/median. A "Pizza" restaurant's missing cost is estimated from other pizza restaurants — context-aware imputation.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849624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49624"/>
            <a:ext cx="416052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86791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Detection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13308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Q1,Q3 = Cost.quantile(0.25), Cost.quantile(0.75)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 = Q1 - 3*IQR  |  upper = Q3 + 3*IQR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444398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3×IQR rule identifies extreme price outliers. Kept for analysis but flagged — removing them could lose premium restaurant insights.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849624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849624"/>
            <a:ext cx="416052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386791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dropna(subset=["Review"]) — Remove Null Reviews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82312" y="413308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 = reviews.dropna(subset=["Review"])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82312" y="444398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on null text would crash or return 0. Removing them ensures every review actually has text to analyze.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120640"/>
            <a:ext cx="8595360" cy="347472"/>
          </a:xfrm>
          <a:prstGeom prst="rect">
            <a:avLst/>
          </a:prstGeom>
          <a:solidFill>
            <a:srgbClr val="F5EFEA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166360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Function: clean_and_prepare_data()  →  Output: Cleaned 200 restaurants | Cleaned reviews dataset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A3B8A"/>
          </a:solidFill>
          <a:ln w="12700">
            <a:solidFill>
              <a:srgbClr val="6A3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4 — Sentiment Analysis (NLP with VADER)  [4/10]</a:t>
            </a:r>
            <a:endParaRPr lang="en-US" sz="2200" dirty="0"/>
          </a:p>
        </p:txBody>
      </p:sp>
      <p:pic>
        <p:nvPicPr>
          <p:cNvPr id="4" name="Image 0" descr="/home/claude/02_sentiment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31520"/>
            <a:ext cx="49377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49240" y="749808"/>
            <a:ext cx="35661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49240" y="749808"/>
            <a:ext cx="64008" cy="1051560"/>
          </a:xfrm>
          <a:prstGeom prst="rect">
            <a:avLst/>
          </a:prstGeom>
          <a:solidFill>
            <a:srgbClr val="6A3B8A"/>
          </a:solidFill>
          <a:ln w="12700">
            <a:solidFill>
              <a:srgbClr val="6A3B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822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3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VADER over other NLP models?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0" y="1133856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(Valence Aware Dictionary and sEntiment Reasoner) is pre-trained specifically for short, informal review text. No model training needed. Outputs a compound score from -1 (very negative) to +1 (very positive) instantly.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49240" y="1901952"/>
            <a:ext cx="35661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49240" y="1901952"/>
            <a:ext cx="64008" cy="1051560"/>
          </a:xfrm>
          <a:prstGeom prst="rect">
            <a:avLst/>
          </a:prstGeom>
          <a:solidFill>
            <a:srgbClr val="6A3B8A"/>
          </a:solidFill>
          <a:ln w="12700">
            <a:solidFill>
              <a:srgbClr val="6A3B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3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polarity_scores()["compound"]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0" y="2286000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single normalized score per review. Thresholds: score &gt; 0.05 = Positive, score &lt; -0.05 = Negative, else Neutral. pd.cut() used to bin scores into 3 labeled categories.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49240" y="3054096"/>
            <a:ext cx="35661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49240" y="3054096"/>
            <a:ext cx="64008" cy="1051560"/>
          </a:xfrm>
          <a:prstGeom prst="rect">
            <a:avLst/>
          </a:prstGeom>
          <a:solidFill>
            <a:srgbClr val="6A3B8A"/>
          </a:solidFill>
          <a:ln w="12700">
            <a:solidFill>
              <a:srgbClr val="6A3B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3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WordCloud — Visual Validation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0" y="3438144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reviews with score &gt; 0.5 (truly positive). Dominant words: "Yummy", "Lovely", "Love" confirm real positive sentiment exists — validating VADER found the right reviews.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49240" y="4206240"/>
            <a:ext cx="3566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49240" y="4206240"/>
            <a:ext cx="64008" cy="749808"/>
          </a:xfrm>
          <a:prstGeom prst="rect">
            <a:avLst/>
          </a:prstGeom>
          <a:solidFill>
            <a:srgbClr val="6A3B8A"/>
          </a:solidFill>
          <a:ln w="12700">
            <a:solidFill>
              <a:srgbClr val="6A3B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3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98.8% Neutral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0" y="4590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Zomato reviews give VADER little signal. This is an honest finding — reported transparently rather than forcing sentiment labels.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49240" y="5056632"/>
            <a:ext cx="3566160" cy="411480"/>
          </a:xfrm>
          <a:prstGeom prst="rect">
            <a:avLst/>
          </a:prstGeom>
          <a:solidFill>
            <a:srgbClr val="F5EFEA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0680" y="5102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3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 = SentimentIntensityAnalyzer()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6A3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reviews["score"] = reviews[text_col].apply(lambda x: sid.polarity_scores(x)["compound"])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5 — Aggregation to Restaurant Level  [5/10]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Reviews are at individual review level. Clustering needs restaurant-level features. We must merge 9,955 reviews into 200 restaurant rows.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508760" cy="100584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9,955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901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(review-level)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1828800"/>
            <a:ext cx="201168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9968" y="1325880"/>
            <a:ext cx="150876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137160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29968" y="1901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_normalize_name()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38728" y="1828800"/>
            <a:ext cx="201168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9896" y="1325880"/>
            <a:ext cx="1508760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9896" y="137160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39896" y="1901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mean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48656" y="1828800"/>
            <a:ext cx="201168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9824" y="1325880"/>
            <a:ext cx="1508760" cy="1005840"/>
          </a:xfrm>
          <a:prstGeom prst="rect">
            <a:avLst/>
          </a:prstGeom>
          <a:solidFill>
            <a:srgbClr val="6A3B8A"/>
          </a:solidFill>
          <a:ln w="12700">
            <a:solidFill>
              <a:srgbClr val="6A3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9824" y="137160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9824" y="1901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on name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58584" y="1828800"/>
            <a:ext cx="201168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9752" y="1325880"/>
            <a:ext cx="1508760" cy="100584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9752" y="137160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59752" y="1901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(restaurant-level)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51460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514600"/>
            <a:ext cx="64008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587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_normalize_name()?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" y="2898648"/>
            <a:ext cx="3977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names in metadata vs. reviews are slightly different ("Cafe XYZ" vs. "cafe xyz"). Lowercasing + removing special chars + stripping spaces ensures a correct match — preventing data loss during merge.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51460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514600"/>
            <a:ext cx="64008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587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groupby().agg()?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2898648"/>
            <a:ext cx="3977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all reviews per restaurant into: num_reviews (count), avg_sentiment (mean). This transforms the problem from NLP → tabular ML — a critical bridge step.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776472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76472"/>
            <a:ext cx="64008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8496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pct_positive / pct_negative?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1480" y="4160520"/>
            <a:ext cx="3977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average sentiment, we capture the proportion of strongly positive/negative reviews. A restaurant with 70% positive is different from one with 30% — even if average score is similar.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776472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776472"/>
            <a:ext cx="64008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8496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avg_rating from reviews?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0" y="4160520"/>
            <a:ext cx="3977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stored in reviews CSV. groupby("restaurant")["Rating"].mean() gives per-restaurant average. More reliable than any metadata rating since it averages all customer votes.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5120640"/>
            <a:ext cx="8595360" cy="347472"/>
          </a:xfrm>
          <a:prstGeom prst="rect">
            <a:avLst/>
          </a:prstGeom>
          <a:solidFill>
            <a:srgbClr val="F5EFEA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5166360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Function: aggregate_to_restaurant_level()  →  Output: 200 restaurant rows with sentiment, rating, review count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6 — Feature Engineering  [6/10]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(cost, rating, reviews) are not enough for meaningful clustering. We engineer composite features that capture real-world restaurant dimensions.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F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4160520" cy="256032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8016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popularity_score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15453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num_reviews × avg_rating × (1 + avg_sentiment) /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819656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volume + quality + sentiment. A restaurant with 100 reviews at 4★ and positive reviews ranks higher than 10 reviews at 5★.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F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61872"/>
            <a:ext cx="4160520" cy="256032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28016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value_score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82312" y="15453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avg_rating / log1p(Cost)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82312" y="1819656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per rupee spent. log1p prevents division dominance for high-cost restaurants. Identifies "hidden gems" — great food at low price.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9631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F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96312"/>
            <a:ext cx="4160520" cy="256032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51460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price_per_star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" y="27797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(avg_rating + 1e-6)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3054096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per star of rating? Exposes overpriced restaurants charging ₹1500 for a 3★ experience vs ₹500 for the same.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49631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F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96312"/>
            <a:ext cx="4160520" cy="256032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51460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sentiment_rating_gap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82312" y="27797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(avg_sentiment+1)/2 × 5  −  avg_rating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82312" y="3054096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inconsistency: reviews sound positive but ratings are low (or vice versa). Useful anomaly signal for clustering.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73075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F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30752"/>
            <a:ext cx="4160520" cy="256032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74904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review_engagement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7472" y="401421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num_reviews / (Cost + 1)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4288536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many people bother to review relative to price. Budget places with many reviews signal high foot traffic.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73075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F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730752"/>
            <a:ext cx="4160520" cy="256032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374904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cuisine_dummy cols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82312" y="401421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cuisine in restaurant, else 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82312" y="4288536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cuisines one-hot encoded. Lets KMeans separate North Indian vs Continental vs Chinese clusters by cuisine type.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120640"/>
            <a:ext cx="8595360" cy="347472"/>
          </a:xfrm>
          <a:prstGeom prst="rect">
            <a:avLst/>
          </a:prstGeom>
          <a:solidFill>
            <a:srgbClr val="F5EFEA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166360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Function: engineer_features()  →  Output: 12+ feature columns including cuisine dummies (is_open_late, num_cuisines, etc.)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4860F"/>
          </a:solidFill>
          <a:ln w="12700">
            <a:solidFill>
              <a:srgbClr val="D486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 — Feature Scaling &amp; PCA  [7/10]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1417320"/>
          </a:xfrm>
          <a:prstGeom prst="rect">
            <a:avLst/>
          </a:prstGeom>
          <a:solidFill>
            <a:srgbClr val="D4860F"/>
          </a:solidFill>
          <a:ln w="12700">
            <a:solidFill>
              <a:srgbClr val="D486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0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StandardScaler?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3931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uses Euclidean distance. Without scaling: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ranges ₹300–₹2,500 (difference ~2,200)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Rating ranges 1–5 (difference ~4)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would completely dominate clustering — ratings and sentiment would be ignored. StandardScaler brings all features to mean=0, std=1.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304288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04288"/>
            <a:ext cx="64008" cy="1234440"/>
          </a:xfrm>
          <a:prstGeom prst="rect">
            <a:avLst/>
          </a:prstGeom>
          <a:solidFill>
            <a:srgbClr val="D4860F"/>
          </a:solidFill>
          <a:ln w="12700">
            <a:solidFill>
              <a:srgbClr val="D486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Formula: z = (x − μ) / 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688336"/>
            <a:ext cx="3931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feature: subtract mean (centers at 0), divide by std dev (normalizes spread).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fit_transform() on training data — never fit on test data to avoid data leakage.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648456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648456"/>
            <a:ext cx="64008" cy="1261872"/>
          </a:xfrm>
          <a:prstGeom prst="rect">
            <a:avLst/>
          </a:prstGeom>
          <a:solidFill>
            <a:srgbClr val="D4860F"/>
          </a:solidFill>
          <a:ln w="12700">
            <a:solidFill>
              <a:srgbClr val="D486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721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(12 features chosen)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4032504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Cost, avg_rating, num_reviews, avg_sentiment, pct_positive, pct_negative, num_cuisines, price_per_star, review_engagement, popularity_score, value_score, cuisine_diversity, is_open_late + cuisine dummies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777240"/>
            <a:ext cx="4297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777240"/>
            <a:ext cx="64008" cy="14173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850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PCA (Principal Component Analysis)?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1161288"/>
            <a:ext cx="4114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20+ features (including cuisine dummies), the feature space is high-dimensional. Problems: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Curse of dimensionality — distances become meaningless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Noise features hurt cluster 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computation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to fewer uncorrelated components while retaining maximum variance.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304288"/>
            <a:ext cx="4297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304288"/>
            <a:ext cx="64008" cy="123444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PCA(n_components=0.95) — Why 0.95?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2688336"/>
            <a:ext cx="4114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fixing number of components, we keep enough components to explain 95% of variance. This is data-driven — the algorithm decides the right number.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typically reduces 20+ features to ~5-8 components.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648456"/>
            <a:ext cx="4297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648456"/>
            <a:ext cx="64008" cy="126187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721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Output Confirmed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09160" y="403250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print("Original features:", X_scaled.shape[1])  →  20+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print("PCA components:", X_pca.shape[1])  →  fewer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also removes multicollinearity (popularity_score and num_reviews are correlated — PCA merges them into one component).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5029200"/>
            <a:ext cx="8595360" cy="411480"/>
          </a:xfrm>
          <a:prstGeom prst="rect">
            <a:avLst/>
          </a:prstGeom>
          <a:solidFill>
            <a:srgbClr val="F5EFEA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50749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86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D486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scaler.fit_transform(X)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D486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= PCA(n_components=0.95, random_state=42)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D486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X_pca = pca.fit_transform(X_scaled)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8 — KMeans Clustering  [8/10]</a:t>
            </a:r>
            <a:endParaRPr lang="en-US" sz="2200" dirty="0"/>
          </a:p>
        </p:txBody>
      </p:sp>
      <p:pic>
        <p:nvPicPr>
          <p:cNvPr id="4" name="Image 0" descr="/home/claude/03_pca_clus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49808"/>
            <a:ext cx="4572000" cy="3822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83480" y="777240"/>
            <a:ext cx="3931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83480" y="777240"/>
            <a:ext cx="64008" cy="111556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850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KMeans?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120640" y="11612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is simple, fast, and produces interpretable spherical clusters. Ideal for restaurant segmentation where we expect groups like "budget", "premium", "mid-range" — naturally rounded in feature space.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83480" y="1993392"/>
            <a:ext cx="3931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993392"/>
            <a:ext cx="64008" cy="111556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0" y="2066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n_clusters=5?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20640" y="2377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chosen after silhouette analysis (higher silhouette = better separation). 5 segments map naturally to business categories: budget gems, budget avg, mid-range, premium, best-value — actionable for business strategy.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83480" y="3209544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83480" y="3209544"/>
            <a:ext cx="64008" cy="9601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3282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n_init=20?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120640" y="3593592"/>
            <a:ext cx="3749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starts with random centroids — results can vary. n_init=20 runs 20 different starts and picks the best. More stable, reproducible results than the default n_init=10.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83480" y="4279392"/>
            <a:ext cx="3931920" cy="548640"/>
          </a:xfrm>
          <a:prstGeom prst="rect">
            <a:avLst/>
          </a:prstGeom>
          <a:solidFill>
            <a:srgbClr val="FAE5E0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silhouette_score() — Validation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2064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similar each point is to its own cluster vs. other clusters. Range: -1 to 1. Higher = cleaner separation. Used to compare K values and confirm K=5 is optimal.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983480" y="4937760"/>
            <a:ext cx="3931920" cy="530352"/>
          </a:xfrm>
          <a:prstGeom prst="rect">
            <a:avLst/>
          </a:prstGeom>
          <a:solidFill>
            <a:srgbClr val="F5EFEA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49834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KMeans(n_clusters=5, random_state=42, n_init=20)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5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df["kmeans_cluster"] = kmeans.fit_predict(X_scaled)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5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silhouette_score(X_scaled, df["kmeans_cluster"])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5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joblib.dump(kmeans, "kmeans_model.pkl")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9 — Hierarchical Clustering  [9/10]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clustering algorithm applied to compare results with KMeans — a key validation step in unsupervised learning.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103120" cy="347472"/>
          </a:xfrm>
          <a:prstGeom prst="rect">
            <a:avLst/>
          </a:prstGeom>
          <a:solidFill>
            <a:srgbClr val="2A9D8F"/>
          </a:solidFill>
          <a:ln w="6350">
            <a:solidFill>
              <a:srgbClr val="00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271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77440" y="1234440"/>
            <a:ext cx="3154680" cy="347472"/>
          </a:xfrm>
          <a:prstGeom prst="rect">
            <a:avLst/>
          </a:prstGeom>
          <a:solidFill>
            <a:srgbClr val="2A9D8F"/>
          </a:solidFill>
          <a:ln w="6350">
            <a:solidFill>
              <a:srgbClr val="006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2304" y="12710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(Exp 8)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32120" y="1234440"/>
            <a:ext cx="3154680" cy="347472"/>
          </a:xfrm>
          <a:prstGeom prst="rect">
            <a:avLst/>
          </a:prstGeom>
          <a:solidFill>
            <a:srgbClr val="2A9D8F"/>
          </a:solidFill>
          <a:ln w="6350">
            <a:solidFill>
              <a:srgbClr val="006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86984" y="12710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(Exp 9)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6184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Type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1581912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2304" y="16184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Centroid-based (iterative)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32120" y="1581912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86984" y="16184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Linkage-based (tree structure)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084832"/>
            <a:ext cx="2103120" cy="475488"/>
          </a:xfrm>
          <a:prstGeom prst="rect">
            <a:avLst/>
          </a:prstGeom>
          <a:solidFill>
            <a:srgbClr val="F0FAF8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1214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2084832"/>
            <a:ext cx="3154680" cy="475488"/>
          </a:xfrm>
          <a:prstGeom prst="rect">
            <a:avLst/>
          </a:prstGeom>
          <a:solidFill>
            <a:srgbClr val="F0FAF8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32304" y="21214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points to nearest centroid, updates centroid, repeats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2084832"/>
            <a:ext cx="3154680" cy="475488"/>
          </a:xfrm>
          <a:prstGeom prst="rect">
            <a:avLst/>
          </a:prstGeom>
          <a:solidFill>
            <a:srgbClr val="F0FAF8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86984" y="21214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closest clusters bottom-up until K clusters remain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58775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26243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used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77440" y="2587752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32304" y="26243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32120" y="2587752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86984" y="26243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 — minimizes variance within merged clusters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090672"/>
            <a:ext cx="2103120" cy="475488"/>
          </a:xfrm>
          <a:prstGeom prst="rect">
            <a:avLst/>
          </a:prstGeom>
          <a:solidFill>
            <a:srgbClr val="F0FAF8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31272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 needed?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77440" y="3090672"/>
            <a:ext cx="3154680" cy="475488"/>
          </a:xfrm>
          <a:prstGeom prst="rect">
            <a:avLst/>
          </a:prstGeom>
          <a:solidFill>
            <a:srgbClr val="F0FAF8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32304" y="312724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(random start sensitivity)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32120" y="3090672"/>
            <a:ext cx="3154680" cy="475488"/>
          </a:xfrm>
          <a:prstGeom prst="rect">
            <a:avLst/>
          </a:prstGeom>
          <a:solidFill>
            <a:srgbClr val="F0FAF8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6984" y="312724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(deterministic — always same result)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59359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36301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77440" y="3593592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32304" y="36301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large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532120" y="3593592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6984" y="36301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O(n²) memory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096512"/>
            <a:ext cx="2103120" cy="475488"/>
          </a:xfrm>
          <a:prstGeom prst="rect">
            <a:avLst/>
          </a:prstGeom>
          <a:solidFill>
            <a:srgbClr val="F0FAF8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" y="41330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77440" y="4096512"/>
            <a:ext cx="3154680" cy="475488"/>
          </a:xfrm>
          <a:prstGeom prst="rect">
            <a:avLst/>
          </a:prstGeom>
          <a:solidFill>
            <a:srgbClr val="F0FAF8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32304" y="41330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round clusters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32120" y="4096512"/>
            <a:ext cx="3154680" cy="475488"/>
          </a:xfrm>
          <a:prstGeom prst="rect">
            <a:avLst/>
          </a:prstGeom>
          <a:solidFill>
            <a:srgbClr val="F0FAF8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86984" y="41330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shaped clusters, dendrogram analysis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59943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46360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eval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377440" y="4599432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32304" y="46360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silhouette_score() applied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32120" y="4599432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86984" y="46360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silhouette_score() applied — compare scores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800600"/>
            <a:ext cx="8595360" cy="658368"/>
          </a:xfrm>
          <a:prstGeom prst="rect">
            <a:avLst/>
          </a:prstGeom>
          <a:solidFill>
            <a:srgbClr val="F5EFEA"/>
          </a:solidFill>
          <a:ln w="6350">
            <a:solidFill>
              <a:srgbClr val="E0D0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846320"/>
            <a:ext cx="8458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hierarchical = AgglomerativeClustering(n_clusters=5, linkage="ward")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df["hierarchical_cluster"] = hierarchical.fit_predict(X_scaled)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sil_score = silhouette_score(X_scaled, df["hierarchical_cluster"])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print(f"Hierarchical Silhouette Score: {sil_score:.4f}")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10 — Cluster Profiling &amp; Final Results  [10/10]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step: Give each cluster a business identity by analyzing the average characteristics of restaurants within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01168" y="1234440"/>
            <a:ext cx="157276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234440"/>
            <a:ext cx="1572768" cy="5029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2527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15087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6888" y="1847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" y="204825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₹1,017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" y="24871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" y="268833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3.79★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" y="31272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" y="33284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" y="3767328"/>
            <a:ext cx="1481328" cy="457200"/>
          </a:xfrm>
          <a:prstGeom prst="rect">
            <a:avLst/>
          </a:prstGeom>
          <a:solidFill>
            <a:srgbClr val="FAE5E0"/>
          </a:solidFill>
          <a:ln w="6350">
            <a:solidFill>
              <a:srgbClr val="E8D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" y="378561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everyday dining. Average cost, decent ratings.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65960" y="1234440"/>
            <a:ext cx="157276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65960" y="1234440"/>
            <a:ext cx="1572768" cy="502920"/>
          </a:xfrm>
          <a:prstGeom prst="rect">
            <a:avLst/>
          </a:prstGeom>
          <a:solidFill>
            <a:srgbClr val="6A3B8A"/>
          </a:solidFill>
          <a:ln w="12700">
            <a:solidFill>
              <a:srgbClr val="6A3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12527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65960" y="15087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1847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204825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3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₹1,518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24871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268833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3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3.78★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31272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3284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3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011680" y="3767328"/>
            <a:ext cx="1481328" cy="457200"/>
          </a:xfrm>
          <a:prstGeom prst="rect">
            <a:avLst/>
          </a:prstGeom>
          <a:solidFill>
            <a:srgbClr val="FAE5E0"/>
          </a:solidFill>
          <a:ln w="6350">
            <a:solidFill>
              <a:srgbClr val="E8D0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29968" y="378561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cost. Premium positioning but ratings don't justify price.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30752" y="1234440"/>
            <a:ext cx="157276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30752" y="1234440"/>
            <a:ext cx="1572768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12527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30752" y="15087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76472" y="1847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76472" y="204825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76472" y="24871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76472" y="268833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3.19★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776472" y="31272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76472" y="33284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776472" y="3767328"/>
            <a:ext cx="1481328" cy="457200"/>
          </a:xfrm>
          <a:prstGeom prst="rect">
            <a:avLst/>
          </a:prstGeom>
          <a:solidFill>
            <a:srgbClr val="FAE5E0"/>
          </a:solidFill>
          <a:ln w="6350">
            <a:solidFill>
              <a:srgbClr val="E8D0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378561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cost, below-average ratings. Value questionable.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95544" y="1234440"/>
            <a:ext cx="157276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95544" y="1234440"/>
            <a:ext cx="1572768" cy="5029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95544" y="12527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95544" y="15087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41264" y="1847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41264" y="204825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₹411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541264" y="24871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41264" y="268833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3.39★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541264" y="31272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41264" y="33284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541264" y="3767328"/>
            <a:ext cx="1481328" cy="457200"/>
          </a:xfrm>
          <a:prstGeom prst="rect">
            <a:avLst/>
          </a:prstGeom>
          <a:solidFill>
            <a:srgbClr val="FAE5E0"/>
          </a:solidFill>
          <a:ln w="6350">
            <a:solidFill>
              <a:srgbClr val="E8D0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9552" y="378561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cost. Best value score — hidden gems.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60336" y="1234440"/>
            <a:ext cx="157276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260336" y="1234440"/>
            <a:ext cx="1572768" cy="502920"/>
          </a:xfrm>
          <a:prstGeom prst="rect">
            <a:avLst/>
          </a:prstGeom>
          <a:solidFill>
            <a:srgbClr val="D4860F"/>
          </a:solidFill>
          <a:ln w="12700">
            <a:solidFill>
              <a:srgbClr val="D4860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60336" y="12527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260336" y="15087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Stars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306056" y="1847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06056" y="204825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₹937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306056" y="24871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306056" y="268833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4.00★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306056" y="31272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306056" y="33284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306056" y="3767328"/>
            <a:ext cx="1481328" cy="457200"/>
          </a:xfrm>
          <a:prstGeom prst="rect">
            <a:avLst/>
          </a:prstGeom>
          <a:solidFill>
            <a:srgbClr val="FAE5E0"/>
          </a:solidFill>
          <a:ln w="6350">
            <a:solidFill>
              <a:srgbClr val="E8D0C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24344" y="378561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rating + highest popularity. The sweet spot.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3708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74320" y="4370832"/>
            <a:ext cx="64008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44439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groupby().agg()?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411480" y="475488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mean/median per cluster for Cost, reviews, sentiment, rating — giving each cluster a "personality profile" comparable across dimensions.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709160" y="43708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09160" y="4370832"/>
            <a:ext cx="64008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46320" y="44439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PCA scatter + joblib.dump()?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4846320" y="475488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2D scatter "shows" the clusters visually — confirms separation. joblib.dump() saves the model for future predictions on new restaurants.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A01818"/>
          </a:solidFill>
          <a:ln w="12700">
            <a:solidFill>
              <a:srgbClr val="A018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3931920" cy="1170432"/>
          </a:xfrm>
          <a:prstGeom prst="rect">
            <a:avLst/>
          </a:prstGeom>
          <a:solidFill>
            <a:srgbClr val="A01818"/>
          </a:solidFill>
          <a:ln w="6350">
            <a:solidFill>
              <a:srgbClr val="8B14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0241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EDA (Exp 2) revealed right-skewed pricing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₹700; North Indian dominates (60+ restaurants). Log scale exposed review uniformity — all restaurants had exactly 100 reviews.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37760" y="960120"/>
            <a:ext cx="3931920" cy="1170432"/>
          </a:xfrm>
          <a:prstGeom prst="rect">
            <a:avLst/>
          </a:prstGeom>
          <a:solidFill>
            <a:srgbClr val="A01818"/>
          </a:solidFill>
          <a:ln w="6350">
            <a:solidFill>
              <a:srgbClr val="8B14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47488" y="10241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Cleaning (Exp 3) was critical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47488" y="13716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detection, regex cost cleaning, cuisine-based imputation — each step prevented silent errors that would corrupt clustering.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258568"/>
            <a:ext cx="3931920" cy="1170432"/>
          </a:xfrm>
          <a:prstGeom prst="rect">
            <a:avLst/>
          </a:prstGeom>
          <a:solidFill>
            <a:srgbClr val="A01818"/>
          </a:solidFill>
          <a:ln w="6350">
            <a:solidFill>
              <a:srgbClr val="8B14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232257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VADER Sentiment (Exp 4) = 98.8% Neutral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67004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review text limits NLP signal. Reported honestly. WordCloud validated that positive sentiment exists but VADER couldn't capture it numerically.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2258568"/>
            <a:ext cx="3931920" cy="1170432"/>
          </a:xfrm>
          <a:prstGeom prst="rect">
            <a:avLst/>
          </a:prstGeom>
          <a:solidFill>
            <a:srgbClr val="A01818"/>
          </a:solidFill>
          <a:ln w="6350">
            <a:solidFill>
              <a:srgbClr val="8B14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47488" y="232257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Feature Engineering (Exp 6) was the key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267004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cost/rating alone would produce boring clusters. Custom features (value_score, popularity_score) created business-meaningful segments.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557016"/>
            <a:ext cx="3931920" cy="1170432"/>
          </a:xfrm>
          <a:prstGeom prst="rect">
            <a:avLst/>
          </a:prstGeom>
          <a:solidFill>
            <a:srgbClr val="A01818"/>
          </a:solidFill>
          <a:ln w="6350">
            <a:solidFill>
              <a:srgbClr val="8B14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362102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Cluster 4 = the Sweet Spot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396849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₹937 avg cost, 4.0★ rating, popularity score 197 — this segment represents the ideal restaurant model for Zomato recommendations.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3557016"/>
            <a:ext cx="3931920" cy="1170432"/>
          </a:xfrm>
          <a:prstGeom prst="rect">
            <a:avLst/>
          </a:prstGeom>
          <a:solidFill>
            <a:srgbClr val="A01818"/>
          </a:solidFill>
          <a:ln w="6350">
            <a:solidFill>
              <a:srgbClr val="8B14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47488" y="362102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KMeans vs Hierarchical (Exp 8 vs 9)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47488" y="396849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applied and compared using Silhouette Score — a rigorous evaluation approach, not just picking the first method.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Restaurants  •  9,955 Reviews  •  10 Experiments  •  5 Clusters  •  KMeans + Hierarchical + VADER NLP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Analysis - 10 Experiments</dc:title>
  <dc:subject>PptxGenJS Presentation</dc:subject>
  <dc:creator>PptxGenJS</dc:creator>
  <cp:lastModifiedBy>PptxGenJS</cp:lastModifiedBy>
  <cp:revision>1</cp:revision>
  <dcterms:created xsi:type="dcterms:W3CDTF">2026-03-13T10:23:30Z</dcterms:created>
  <dcterms:modified xsi:type="dcterms:W3CDTF">2026-03-13T10:23:30Z</dcterms:modified>
</cp:coreProperties>
</file>